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88977"/>
  </p:normalViewPr>
  <p:slideViewPr>
    <p:cSldViewPr snapToGrid="0">
      <p:cViewPr varScale="1">
        <p:scale>
          <a:sx n="137" d="100"/>
          <a:sy n="137" d="100"/>
        </p:scale>
        <p:origin x="98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15.05.26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p>
          <a:p>
            <a:endParaRPr lang="en-GB" sz="1200" b="1" i="0" kern="1200" dirty="0">
              <a:solidFill>
                <a:schemeClr val="tx1"/>
              </a:solidFill>
              <a:effectLst/>
              <a:latin typeface="+mn-lt"/>
              <a:ea typeface="+mn-ea"/>
              <a:cs typeface="+mn-cs"/>
            </a:endParaRPr>
          </a:p>
          <a:p>
            <a:r>
              <a:rPr lang="en-GB" sz="1200" b="0" i="0" kern="1200" dirty="0" err="1">
                <a:solidFill>
                  <a:schemeClr val="tx1"/>
                </a:solidFill>
                <a:effectLst/>
                <a:latin typeface="+mn-lt"/>
                <a:ea typeface="+mn-ea"/>
                <a:cs typeface="+mn-cs"/>
              </a:rPr>
              <a:t>Stuctured</a:t>
            </a:r>
            <a:r>
              <a:rPr lang="en-GB" sz="1200" b="0" i="0" kern="1200" dirty="0">
                <a:solidFill>
                  <a:schemeClr val="tx1"/>
                </a:solidFill>
                <a:effectLst/>
                <a:latin typeface="+mn-lt"/>
                <a:ea typeface="+mn-ea"/>
                <a:cs typeface="+mn-cs"/>
              </a:rPr>
              <a:t> Data: is data that follows fixed format an can be organized into rows</a:t>
            </a:r>
          </a:p>
          <a:p>
            <a:r>
              <a:rPr lang="en-GB" sz="1200" b="0" i="0" kern="1200" dirty="0">
                <a:solidFill>
                  <a:schemeClr val="tx1"/>
                </a:solidFill>
                <a:effectLst/>
                <a:latin typeface="+mn-lt"/>
                <a:ea typeface="+mn-ea"/>
                <a:cs typeface="+mn-cs"/>
              </a:rPr>
              <a:t>Unstructured data: has no fixed format or schema like email text, log files, documents ,. …</a:t>
            </a:r>
            <a:endParaRPr lang="en-AT" b="0"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T" dirty="0"/>
              <a:t>Documents are indexed across one ore more shards. Each shard is itself a fully functional index</a:t>
            </a:r>
          </a:p>
        </p:txBody>
      </p:sp>
      <p:sp>
        <p:nvSpPr>
          <p:cNvPr id="4" name="Slide Number Placeholder 3"/>
          <p:cNvSpPr>
            <a:spLocks noGrp="1"/>
          </p:cNvSpPr>
          <p:nvPr>
            <p:ph type="sldNum" sz="quarter" idx="5"/>
          </p:nvPr>
        </p:nvSpPr>
        <p:spPr/>
        <p:txBody>
          <a:bodyPr/>
          <a:lstStyle/>
          <a:p>
            <a:fld id="{C9565C50-69E9-8E49-A3AB-C69605F3BCD6}" type="slidenum">
              <a:rPr lang="en-AT" smtClean="0"/>
              <a:t>6</a:t>
            </a:fld>
            <a:endParaRPr lang="en-AT"/>
          </a:p>
        </p:txBody>
      </p:sp>
    </p:spTree>
    <p:extLst>
      <p:ext uri="{BB962C8B-B14F-4D97-AF65-F5344CB8AC3E}">
        <p14:creationId xmlns:p14="http://schemas.microsoft.com/office/powerpoint/2010/main" val="30365856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Support real time indexing and </a:t>
            </a:r>
            <a:r>
              <a:rPr lang="en-GB" sz="1200" b="0" i="0" u="none" strike="noStrike" kern="1200" dirty="0" err="1">
                <a:solidFill>
                  <a:schemeClr val="tx1"/>
                </a:solidFill>
                <a:effectLst/>
                <a:latin typeface="+mn-lt"/>
                <a:ea typeface="+mn-ea"/>
                <a:cs typeface="+mn-cs"/>
              </a:rPr>
              <a:t>quering</a:t>
            </a:r>
            <a:r>
              <a:rPr lang="en-GB" sz="1200" b="0" i="0" u="none" strike="noStrike" kern="1200" dirty="0">
                <a:solidFill>
                  <a:schemeClr val="tx1"/>
                </a:solidFill>
                <a:effectLst/>
                <a:latin typeface="+mn-lt"/>
                <a:ea typeface="+mn-ea"/>
                <a:cs typeface="+mn-cs"/>
              </a:rPr>
              <a:t>, making it suitable for use cases that require up-to-date insights from continuously changing 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Data is ingested into Elasticsearch through the indexing process</a:t>
            </a: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gets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  ies, radius filters and map-based visualizations — used in booking platforms, logistics and asset tracking</a:t>
            </a:r>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5/15/26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15.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Advantages &amp; Disadvantages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dirty="0"/>
              <a:t>Open-source, distributed search and analytics engine</a:t>
            </a:r>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3"/>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Scaleable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sp>
        <p:nvSpPr>
          <p:cNvPr id="12" name="Rectangle 11">
            <a:extLst>
              <a:ext uri="{FF2B5EF4-FFF2-40B4-BE49-F238E27FC236}">
                <a16:creationId xmlns:a16="http://schemas.microsoft.com/office/drawing/2014/main" id="{5704C072-59A8-AEFE-45B6-284B7BBD56D5}"/>
              </a:ext>
            </a:extLst>
          </p:cNvPr>
          <p:cNvSpPr/>
          <p:nvPr/>
        </p:nvSpPr>
        <p:spPr>
          <a:xfrm>
            <a:off x="3494675" y="3072809"/>
            <a:ext cx="3355829" cy="712382"/>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4"/>
            <a:stretch>
              <a:fillRect/>
            </a:stretch>
          </p:blipFill>
          <p:spPr>
            <a:xfrm>
              <a:off x="7011321" y="4099888"/>
              <a:ext cx="2553153" cy="1312037"/>
            </a:xfrm>
            <a:prstGeom prst="rect">
              <a:avLst/>
            </a:prstGeom>
          </p:spPr>
        </p:pic>
      </p:grpSp>
      <p:pic>
        <p:nvPicPr>
          <p:cNvPr id="5" name="Picture 4">
            <a:extLst>
              <a:ext uri="{FF2B5EF4-FFF2-40B4-BE49-F238E27FC236}">
                <a16:creationId xmlns:a16="http://schemas.microsoft.com/office/drawing/2014/main" id="{3FBDF86E-2174-CF34-E191-82A30BE8D9C1}"/>
              </a:ext>
            </a:extLst>
          </p:cNvPr>
          <p:cNvPicPr>
            <a:picLocks noChangeAspect="1"/>
          </p:cNvPicPr>
          <p:nvPr/>
        </p:nvPicPr>
        <p:blipFill>
          <a:blip r:embed="rId5"/>
          <a:stretch>
            <a:fillRect/>
          </a:stretch>
        </p:blipFill>
        <p:spPr>
          <a:xfrm>
            <a:off x="3549779" y="3170889"/>
            <a:ext cx="3181489" cy="487118"/>
          </a:xfrm>
          <a:prstGeom prst="rect">
            <a:avLst/>
          </a:prstGeom>
        </p:spPr>
      </p:pic>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childTnLst>
                          </p:cTn>
                        </p:par>
                        <p:par>
                          <p:cTn id="14" fill="hold">
                            <p:stCondLst>
                              <p:cond delay="500"/>
                            </p:stCondLst>
                            <p:childTnLst>
                              <p:par>
                                <p:cTn id="15" presetID="2" presetClass="entr" presetSubtype="4" fill="hold" nodeType="after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 calcmode="lin" valueType="num">
                                      <p:cBhvr additive="base">
                                        <p:cTn id="1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Querying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1010388" y="4267051"/>
            <a:ext cx="3221369" cy="2400832"/>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Advantages &amp; Disadvantages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Python script</a:t>
            </a:r>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en-GB" noProof="1"/>
              <a:t>Dashboard for visualization</a:t>
            </a:r>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820</TotalTime>
  <Words>1379</Words>
  <Application>Microsoft Macintosh PowerPoint</Application>
  <PresentationFormat>Widescreen</PresentationFormat>
  <Paragraphs>200</Paragraphs>
  <Slides>20</Slides>
  <Notes>18</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Advantages &amp; Disadvantages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75</cp:revision>
  <dcterms:created xsi:type="dcterms:W3CDTF">2026-05-01T13:40:05Z</dcterms:created>
  <dcterms:modified xsi:type="dcterms:W3CDTF">2026-05-15T07:51:08Z</dcterms:modified>
</cp:coreProperties>
</file>