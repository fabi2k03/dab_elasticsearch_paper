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65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8" r:id="rId6"/>
    <p:sldId id="269" r:id="rId7"/>
    <p:sldId id="261" r:id="rId8"/>
    <p:sldId id="263" r:id="rId9"/>
    <p:sldId id="270" r:id="rId10"/>
    <p:sldId id="271" r:id="rId11"/>
    <p:sldId id="265" r:id="rId12"/>
    <p:sldId id="273" r:id="rId13"/>
    <p:sldId id="262" r:id="rId14"/>
    <p:sldId id="272" r:id="rId15"/>
    <p:sldId id="266" r:id="rId16"/>
    <p:sldId id="267" r:id="rId17"/>
  </p:sldIdLst>
  <p:sldSz cx="12192000" cy="6858000"/>
  <p:notesSz cx="6858000" cy="9144000"/>
  <p:defaultTextStyle>
    <a:defPPr>
      <a:defRPr lang="en-A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FB3"/>
    <a:srgbClr val="FED20B"/>
    <a:srgbClr val="02A9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28"/>
    <p:restoredTop sz="88977"/>
  </p:normalViewPr>
  <p:slideViewPr>
    <p:cSldViewPr snapToGrid="0">
      <p:cViewPr varScale="1">
        <p:scale>
          <a:sx n="120" d="100"/>
          <a:sy n="120" d="100"/>
        </p:scale>
        <p:origin x="20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C1BCD2-C187-B342-9D66-FD6DDE94747E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T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565C50-69E9-8E49-A3AB-C69605F3BCD6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10894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javascript/json/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61353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F15B0-999E-1514-A448-870AE972E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1A1D50-85DC-9F8F-A115-7EA606E0A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1295E3-FE6D-F2C0-158D-BDC48780D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Beats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shipping,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Logstash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processing.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57ED8E-6070-D589-7FDB-EB2B35929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356103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C0524-611F-2FEB-987D-56FF6839C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FF4783-AD51-7669-A8B6-40D1A425E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CFA6D1-F98B-DDBF-41A2-86767096B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2EE7D-3B6A-FE6E-72E1-E71691C44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012229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CB156-0B84-FD0E-B5B8-947EC6052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507E35-D2CC-C05B-9FAE-B309FD49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09CF0-21C4-B8AC-DBEF-DA33107D36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is because of its architecture distributed by nature. This allows it to scale horizontally  across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multible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nodes to handle large datasets and high query volumes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provides powerful full-text-search capabilities, enabling users to search for documents based on their content and relevance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Support real time indexing and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quering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making it suitable for use cases that require up-to-date insights from continuously changing data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Offers a RESTful API, making it easy to interact with the system using simple http requests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schemaless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meaning we can index and search data without having to define a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rigit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 already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38F03-16B0-D5A7-20B1-D49ADDEDE3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7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914577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8E0A9-C650-7653-7FCC-8258A4ADD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E978A5-78D9-2525-0380-4477067A6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CEEEE-C7FE-1847-F1D0-DDF04FCBC0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Analyse then tokenize and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thte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inverted index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Tonkenized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 some steps more – that what you can see here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all is lowercased and the the is never stored because it would be useless for searching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9FB4C-B26C-54BC-CA1A-AB4035EEF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8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7564883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BF4A2-A0C2-D748-5AA1-641F229B0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063A5-4A57-CBFC-4F24-248456D039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14AAA-2FC3-4207-37F5-0753D567A7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full-text search, finds "Monaco Grand Prix" by typing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monaco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Fuzzy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tolerates typos, "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Hamilten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still finds "Hamilton”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Bool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combines conditions, like SQL WHERE with AND/OR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Aggregation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- group and count, like SQL GROUP BY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31C7C2-3E5C-FED8-BB29-29E466420F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9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5852703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1BDA-9E86-9C4D-9747-998377900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D95772-CBAF-FCAB-672E-C8CA058089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B7496-8800-3FAE-0A83-786D3CB1C2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employs distributed search and aggregation strategies to parallelize computation and merge results from multiple shards.</a:t>
            </a:r>
            <a:endParaRPr lang="en-GB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78E320-A4BE-7B8D-DD66-5A8B2E7872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10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386639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31299-0189-2C8D-89C9-3D8511124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92200-DEAD-57C0-C50B-49670743F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A77AEE-0601-35AB-C699-AC10D5535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-&gt; HTTP Methode +index name + endpoint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-&gt;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QueryDSL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Body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Match-&gt; 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type: full-text search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field: search value</a:t>
            </a:r>
            <a:b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get all documents of driver results where the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race_name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</a:t>
            </a:r>
            <a:r>
              <a:rPr lang="en-GB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monaco</a:t>
            </a:r>
            <a:r>
              <a:rPr lang="en-GB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D0EEC9-47A7-F691-D36B-5BF05A027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11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602234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CB3E3-77D4-EA37-7D52-31157EED6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4FFE6-81C1-3B4A-1883-C1B136128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93512F-B1FA-EB6F-32A1-33E9BE6AB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key fields worth pointing out on your slide: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took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how many milliseconds the query took (3ms!)</a:t>
            </a:r>
          </a:p>
          <a:p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total.value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total number of matching documents (418 — remember, one per driver result)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_score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relevance score, higher = better match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_source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the actual document data you indexed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AC94C-B877-45B7-4B8B-77D1C4B27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12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2437571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ECCA7-4D49-FE9D-9AA0-C3CB76DD1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7BFCF-DEC2-04F1-6C27-42E1310875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DC1BF-37AC-E219-C92F-9A4864357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AT" dirty="0"/>
              <a:t>Aggregations over sales figures, user behavior or financial records generate dashboards and reports without requiring a separate BI platform.</a:t>
            </a:r>
            <a:br>
              <a:rPr lang="en-AT" dirty="0"/>
            </a:br>
            <a:r>
              <a:rPr lang="en-GB" dirty="0" err="1"/>
              <a:t>Aggregationen</a:t>
            </a:r>
            <a:r>
              <a:rPr lang="en-GB" dirty="0"/>
              <a:t> von </a:t>
            </a:r>
            <a:r>
              <a:rPr lang="en-GB" dirty="0" err="1"/>
              <a:t>Verkaufszahlen</a:t>
            </a:r>
            <a:r>
              <a:rPr lang="en-GB" dirty="0"/>
              <a:t>, </a:t>
            </a:r>
            <a:r>
              <a:rPr lang="en-GB" dirty="0" err="1"/>
              <a:t>Nutzerverhalten</a:t>
            </a:r>
            <a:r>
              <a:rPr lang="en-GB" dirty="0"/>
              <a:t> </a:t>
            </a:r>
            <a:r>
              <a:rPr lang="en-GB" dirty="0" err="1"/>
              <a:t>oder</a:t>
            </a:r>
            <a:r>
              <a:rPr lang="en-GB" dirty="0"/>
              <a:t> </a:t>
            </a:r>
            <a:r>
              <a:rPr lang="en-GB" dirty="0" err="1"/>
              <a:t>Finanzdaten</a:t>
            </a:r>
            <a:r>
              <a:rPr lang="en-GB" dirty="0"/>
              <a:t> </a:t>
            </a:r>
            <a:r>
              <a:rPr lang="en-GB" dirty="0" err="1"/>
              <a:t>ermöglichen</a:t>
            </a:r>
            <a:r>
              <a:rPr lang="en-GB" dirty="0"/>
              <a:t> die </a:t>
            </a:r>
            <a:r>
              <a:rPr lang="en-GB" dirty="0" err="1"/>
              <a:t>Erstellung</a:t>
            </a:r>
            <a:r>
              <a:rPr lang="en-GB" dirty="0"/>
              <a:t> von Dashboards und </a:t>
            </a:r>
            <a:r>
              <a:rPr lang="en-GB" dirty="0" err="1"/>
              <a:t>Berichten</a:t>
            </a:r>
            <a:r>
              <a:rPr lang="en-GB" dirty="0"/>
              <a:t>, </a:t>
            </a:r>
            <a:r>
              <a:rPr lang="en-GB" dirty="0" err="1"/>
              <a:t>ohne</a:t>
            </a:r>
            <a:r>
              <a:rPr lang="en-GB" dirty="0"/>
              <a:t> </a:t>
            </a:r>
            <a:r>
              <a:rPr lang="en-GB" dirty="0" err="1"/>
              <a:t>dass</a:t>
            </a:r>
            <a:r>
              <a:rPr lang="en-GB" dirty="0"/>
              <a:t> </a:t>
            </a:r>
            <a:r>
              <a:rPr lang="en-GB" dirty="0" err="1"/>
              <a:t>eine</a:t>
            </a:r>
            <a:r>
              <a:rPr lang="en-GB" dirty="0"/>
              <a:t> separate BI-</a:t>
            </a:r>
            <a:r>
              <a:rPr lang="en-GB" dirty="0" err="1"/>
              <a:t>Plattform</a:t>
            </a:r>
            <a:r>
              <a:rPr lang="en-GB" dirty="0"/>
              <a:t> </a:t>
            </a:r>
            <a:r>
              <a:rPr lang="en-GB" dirty="0" err="1"/>
              <a:t>erforderlich</a:t>
            </a:r>
            <a:r>
              <a:rPr lang="en-GB" dirty="0"/>
              <a:t> </a:t>
            </a:r>
            <a:r>
              <a:rPr lang="en-GB" dirty="0" err="1"/>
              <a:t>ist</a:t>
            </a:r>
            <a:r>
              <a:rPr lang="en-GB" dirty="0"/>
              <a:t>.</a:t>
            </a:r>
            <a:endParaRPr lang="en-AT" dirty="0"/>
          </a:p>
          <a:p>
            <a:pPr lvl="1"/>
            <a:r>
              <a:rPr lang="en-AT" dirty="0"/>
              <a:t>geo_point fields allow proximity queries, radius filters and map-based visualizations — used in booking platforms, logistics and asset tracking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6098C9-5013-0958-709C-AFD18D7C1F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13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3563243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AT" dirty="0"/>
              <a:t>Horizontal scalability — new nodes can be added to a cluster at any time to absorb growing data volumes and query loads.</a:t>
            </a:r>
          </a:p>
          <a:p>
            <a:pPr lvl="1"/>
            <a:r>
              <a:rPr lang="en-AT" dirty="0"/>
              <a:t>Near real-time search and analytics — the inverted index delivers results across terabytes of data in milliseconds.</a:t>
            </a:r>
          </a:p>
          <a:p>
            <a:pPr lvl="1"/>
            <a:r>
              <a:rPr lang="en-AT" dirty="0"/>
              <a:t>Flexible Query DSL — supports full-text, fuzzy, geo, bool, range and aggregation queries all in one system.</a:t>
            </a:r>
          </a:p>
          <a:p>
            <a:pPr lvl="1"/>
            <a:r>
              <a:rPr lang="en-AT" dirty="0"/>
              <a:t>Rich ecosystem — Kibana, Logstash and Beats cover visualization, ingestion and data shipping out of the box.</a:t>
            </a:r>
          </a:p>
          <a:p>
            <a:pPr lvl="1"/>
            <a:br>
              <a:rPr lang="en-AT" dirty="0"/>
            </a:br>
            <a:br>
              <a:rPr lang="en-AT" dirty="0"/>
            </a:br>
            <a:r>
              <a:rPr lang="en-AT" dirty="0"/>
              <a:t>Complex setup — cluster sizing, JVM tuning, shard allocation and security configuration demand significant expertise.</a:t>
            </a:r>
          </a:p>
          <a:p>
            <a:pPr lvl="1"/>
            <a:r>
              <a:rPr lang="en-AT" dirty="0"/>
              <a:t>Resource intensive — even moderate deployments require substantial CPU, memory and disk; under-provisioning causes instability.</a:t>
            </a:r>
          </a:p>
          <a:p>
            <a:pPr lvl="1"/>
            <a:r>
              <a:rPr lang="en-AT" dirty="0"/>
              <a:t>No ACID transactions — only eventual consistency, making it unsuitable for use cases that require strict data integrity.</a:t>
            </a:r>
          </a:p>
          <a:p>
            <a:endParaRPr lang="en-A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14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577341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E9B7A-2047-D6D3-11BC-54F37C4C8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360CA5-BEB2-E327-F211-9F8D85CBA3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A3D05-C486-3039-BE33-C040DA900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Elasticsearch stores data in </a:t>
            </a:r>
            <a:r>
              <a:rPr lang="en-GB" sz="1200" b="0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JSON 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format and making it easy to index and search structured and unstructured data.</a:t>
            </a:r>
          </a:p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60B0D-1C08-4B2A-A34B-73A56EE7B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15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4348156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48B5A-D00A-4259-F4BF-FE60949CF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15719A-2CB2-8BA4-C35F-43D92D74FC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72D15A-5DD1-EE84-47BE-34C12268C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D92D7-35C5-16BF-5368-7D0964651E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565C50-69E9-8E49-A3AB-C69605F3BCD6}" type="slidenum">
              <a:rPr lang="en-AT" smtClean="0"/>
              <a:t>16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74628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09A5-A479-79D0-C570-03AEC40ACA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A329F-AC64-5B64-C62C-763D85C12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8CEB6-3E3C-523D-9CA4-A3C4C1969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20FD85-B3BD-082A-340C-8830742E9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C925C4-09A7-3188-14DC-441E18E6D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01350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24411-3171-C2D7-746B-A620CCC02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71B1E-1A15-8CF7-2420-1B65D74ED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AT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3E93F-194D-2EC2-B1BE-2AD51F9B9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23EFC-C784-AC46-AE3C-8E1B6BCAD649}" type="datetime1">
              <a:rPr lang="en-US" smtClean="0"/>
              <a:pPr/>
              <a:t>5/4/26</a:t>
            </a:fld>
            <a:endParaRPr lang="en-A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1317-118A-F2CC-1354-E583C68F78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101D1-DD1C-DD70-99DE-FA67BC8CC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B703C308-A36A-C23C-737B-3C9A616681C2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3F2D58-3CFC-EB8C-C4FF-707BD1B1996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4D491104-C9F3-A30C-7209-5A868ADDE345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2521229-4EB8-BEAF-F660-E32D069B7C03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247AAED8-DC4C-B4A6-DC1F-CD0EBA10EFE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pic>
        <p:nvPicPr>
          <p:cNvPr id="12" name="Picture 11" descr="A red and black logo&#10;&#10;AI-generated content may be incorrect.">
            <a:extLst>
              <a:ext uri="{FF2B5EF4-FFF2-40B4-BE49-F238E27FC236}">
                <a16:creationId xmlns:a16="http://schemas.microsoft.com/office/drawing/2014/main" id="{EDCE9754-6C00-0776-66EA-4338096A8D7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165" y="78607"/>
            <a:ext cx="1809563" cy="491672"/>
          </a:xfrm>
          <a:prstGeom prst="rect">
            <a:avLst/>
          </a:prstGeom>
        </p:spPr>
      </p:pic>
      <p:sp>
        <p:nvSpPr>
          <p:cNvPr id="13" name="Freeform 12">
            <a:extLst>
              <a:ext uri="{FF2B5EF4-FFF2-40B4-BE49-F238E27FC236}">
                <a16:creationId xmlns:a16="http://schemas.microsoft.com/office/drawing/2014/main" id="{507D564E-B7A2-1104-3355-9CBFC86FDD9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067843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A909B-8187-9259-C703-B81ADEDF7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BCD72-8D13-01E0-B3AD-927A8ECC49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57E909-5ECE-EA28-48FC-04B35BAD43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E802-7298-BAD4-E0E6-3BD941F31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F2B34-CE93-848B-31D5-D83BA2878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9589CD65-5F10-2A5E-08A3-4784155E15AD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7AFF811-7F9B-2B8D-CC58-4617CF0DB6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23E6DBF-8FE3-ABF9-52E3-01484BA7CC4E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6F2B1F5-4C85-B9F8-45BA-975B76CECBA6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1" name="Freeform 10">
            <a:extLst>
              <a:ext uri="{FF2B5EF4-FFF2-40B4-BE49-F238E27FC236}">
                <a16:creationId xmlns:a16="http://schemas.microsoft.com/office/drawing/2014/main" id="{DF5AF3FC-A7FB-8F1D-041D-FCAB37F9587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255387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2E27E-FBF7-E1D1-FA66-0AAE47BEE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3F2A8-F6C6-E247-36C4-34D690B4D3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B8EE53-E0C8-E326-1EBA-3295756D24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6C9890-96D8-C421-F52E-89E5FA5B8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6F1BCA-A324-D676-9CFF-F496AE892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AE1F81-3D0C-317C-254B-9F0FC46B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FB3973F1-0FD7-E73C-D601-F35B9056F1F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1CF6CCF-D429-0CF0-05DE-4D366EFE875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70370479-BBD2-FF8A-2DB0-7A5DD86349A9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57D8D5D-07C9-0C5C-EAB4-234FE01CD4D5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2E01D89F-E383-A868-DDA1-8D9C405D8F36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E84AEF60-975A-95F7-0943-7B3F46AD3B73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90953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2E9E-ADD2-BE08-DEFE-FD45AE47C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283A32-25C9-AD33-2534-FCEE0476E0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4B07E2-D127-E6B7-3008-A53226AE2A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F64B3-30EA-D82E-7B58-037A489DBF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A688AC-338C-3AC5-829A-F54813C940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CA5D16-6D99-8B5D-23CC-0876B8256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2B6E79-88CD-C666-4034-53122E856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388AC4-EB5B-089F-4585-D736D7E3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F201A220-9FE5-8298-5472-24DF51C00DD9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7746DDD-0411-EF63-173B-3B41E3C39BEC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8059651-D777-D47B-57E7-408F993AFABD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97778A5-4CF3-EEA2-A12C-5689024F2A6F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4" name="Freeform 13">
            <a:extLst>
              <a:ext uri="{FF2B5EF4-FFF2-40B4-BE49-F238E27FC236}">
                <a16:creationId xmlns:a16="http://schemas.microsoft.com/office/drawing/2014/main" id="{A2BF3103-6099-DFBB-0DAC-C56679D7033A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980F5AE-4DFD-602C-243F-A756C225EB5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205594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71954-C818-5E73-0EA0-41BD660D5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C0A4B0-CC47-BB0E-0DB5-D4C6DF845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0E736-777E-CA31-35D5-9AB5EE331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D5ECD-39A7-20DD-CC53-1B4817CB7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AB1BA926-4F3B-78FF-DE8E-EB15B6F10B1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FE3586C-7B28-9A07-48C9-E4F14E597575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6A39B3FF-D9EC-CCC3-9011-F97FEBC489EC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DAF5549-E861-F069-4318-4570DC06DDA1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0" name="Freeform 9">
            <a:extLst>
              <a:ext uri="{FF2B5EF4-FFF2-40B4-BE49-F238E27FC236}">
                <a16:creationId xmlns:a16="http://schemas.microsoft.com/office/drawing/2014/main" id="{19430686-6174-286D-E72B-DD5857B97093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54A39A69-0D36-A804-A37B-53D8EE142AC5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3681435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B5CC0-5E35-C6F7-5691-EFBD2267A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14387E-EF95-E26B-8131-54A0ADE39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C9B22-8FB2-1C2A-EA71-1C1752FEA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5CF2B57E-D22E-0ACD-B3A3-73397166D4B8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03FCB0-ED19-9547-031E-FE66528B2583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1E574726-1DAB-2B05-3D8A-53A5B5880018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1AB4D40-84D7-388A-11FE-763A70127DEC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9" name="Freeform 8">
            <a:extLst>
              <a:ext uri="{FF2B5EF4-FFF2-40B4-BE49-F238E27FC236}">
                <a16:creationId xmlns:a16="http://schemas.microsoft.com/office/drawing/2014/main" id="{89DADE3B-3245-F679-B2C7-24F58E356634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9026AC4-B436-F850-5A7F-52F1154DDE39}"/>
              </a:ext>
            </a:extLst>
          </p:cNvPr>
          <p:cNvSpPr/>
          <p:nvPr userDrawn="1"/>
        </p:nvSpPr>
        <p:spPr>
          <a:xfrm rot="5400000">
            <a:off x="1905960" y="-1382169"/>
            <a:ext cx="264089" cy="5708022"/>
          </a:xfrm>
          <a:custGeom>
            <a:avLst/>
            <a:gdLst>
              <a:gd name="csX0" fmla="*/ 172982 w 784694"/>
              <a:gd name="csY0" fmla="*/ 51151 h 3352353"/>
              <a:gd name="csX1" fmla="*/ 392347 w 784694"/>
              <a:gd name="csY1" fmla="*/ 0 h 3352353"/>
              <a:gd name="csX2" fmla="*/ 753861 w 784694"/>
              <a:gd name="csY2" fmla="*/ 182925 h 3352353"/>
              <a:gd name="csX3" fmla="*/ 774280 w 784694"/>
              <a:gd name="csY3" fmla="*/ 233137 h 3352353"/>
              <a:gd name="csX4" fmla="*/ 774416 w 784694"/>
              <a:gd name="csY4" fmla="*/ 233339 h 3352353"/>
              <a:gd name="csX5" fmla="*/ 774470 w 784694"/>
              <a:gd name="csY5" fmla="*/ 233604 h 3352353"/>
              <a:gd name="csX6" fmla="*/ 776723 w 784694"/>
              <a:gd name="csY6" fmla="*/ 239145 h 3352353"/>
              <a:gd name="csX7" fmla="*/ 778868 w 784694"/>
              <a:gd name="csY7" fmla="*/ 255392 h 3352353"/>
              <a:gd name="csX8" fmla="*/ 784694 w 784694"/>
              <a:gd name="csY8" fmla="*/ 284247 h 3352353"/>
              <a:gd name="csX9" fmla="*/ 784694 w 784694"/>
              <a:gd name="csY9" fmla="*/ 299506 h 3352353"/>
              <a:gd name="csX10" fmla="*/ 784694 w 784694"/>
              <a:gd name="csY10" fmla="*/ 299506 h 3352353"/>
              <a:gd name="csX11" fmla="*/ 784694 w 784694"/>
              <a:gd name="csY11" fmla="*/ 299507 h 3352353"/>
              <a:gd name="csX12" fmla="*/ 784694 w 784694"/>
              <a:gd name="csY12" fmla="*/ 3221568 h 3352353"/>
              <a:gd name="csX13" fmla="*/ 653909 w 784694"/>
              <a:gd name="csY13" fmla="*/ 3352353 h 3352353"/>
              <a:gd name="csX14" fmla="*/ 130785 w 784694"/>
              <a:gd name="csY14" fmla="*/ 3352353 h 3352353"/>
              <a:gd name="csX15" fmla="*/ 0 w 784694"/>
              <a:gd name="csY15" fmla="*/ 3221568 h 3352353"/>
              <a:gd name="csX16" fmla="*/ 0 w 784694"/>
              <a:gd name="csY16" fmla="*/ 284247 h 3352353"/>
              <a:gd name="csX17" fmla="*/ 5826 w 784694"/>
              <a:gd name="csY17" fmla="*/ 255390 h 3352353"/>
              <a:gd name="csX18" fmla="*/ 7971 w 784694"/>
              <a:gd name="csY18" fmla="*/ 239145 h 3352353"/>
              <a:gd name="csX19" fmla="*/ 10224 w 784694"/>
              <a:gd name="csY19" fmla="*/ 233605 h 3352353"/>
              <a:gd name="csX20" fmla="*/ 10278 w 784694"/>
              <a:gd name="csY20" fmla="*/ 233339 h 3352353"/>
              <a:gd name="csX21" fmla="*/ 10415 w 784694"/>
              <a:gd name="csY21" fmla="*/ 233136 h 3352353"/>
              <a:gd name="csX22" fmla="*/ 30833 w 784694"/>
              <a:gd name="csY22" fmla="*/ 182925 h 3352353"/>
              <a:gd name="csX23" fmla="*/ 172982 w 784694"/>
              <a:gd name="csY23" fmla="*/ 51151 h 3352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784694" h="3352353">
                <a:moveTo>
                  <a:pt x="172982" y="51151"/>
                </a:moveTo>
                <a:cubicBezTo>
                  <a:pt x="235601" y="18857"/>
                  <a:pt x="311089" y="0"/>
                  <a:pt x="392347" y="0"/>
                </a:cubicBezTo>
                <a:cubicBezTo>
                  <a:pt x="554862" y="0"/>
                  <a:pt x="694300" y="75428"/>
                  <a:pt x="753861" y="182925"/>
                </a:cubicBezTo>
                <a:lnTo>
                  <a:pt x="774280" y="233137"/>
                </a:lnTo>
                <a:lnTo>
                  <a:pt x="774416" y="233339"/>
                </a:lnTo>
                <a:lnTo>
                  <a:pt x="774470" y="233604"/>
                </a:lnTo>
                <a:lnTo>
                  <a:pt x="776723" y="239145"/>
                </a:lnTo>
                <a:lnTo>
                  <a:pt x="778868" y="255392"/>
                </a:lnTo>
                <a:lnTo>
                  <a:pt x="784694" y="284247"/>
                </a:lnTo>
                <a:lnTo>
                  <a:pt x="784694" y="299506"/>
                </a:lnTo>
                <a:lnTo>
                  <a:pt x="784694" y="299506"/>
                </a:lnTo>
                <a:lnTo>
                  <a:pt x="784694" y="299507"/>
                </a:lnTo>
                <a:lnTo>
                  <a:pt x="784694" y="3221568"/>
                </a:lnTo>
                <a:cubicBezTo>
                  <a:pt x="784694" y="3293799"/>
                  <a:pt x="726140" y="3352353"/>
                  <a:pt x="653909" y="3352353"/>
                </a:cubicBezTo>
                <a:lnTo>
                  <a:pt x="130785" y="3352353"/>
                </a:lnTo>
                <a:cubicBezTo>
                  <a:pt x="58554" y="3352353"/>
                  <a:pt x="0" y="3293799"/>
                  <a:pt x="0" y="3221568"/>
                </a:cubicBezTo>
                <a:lnTo>
                  <a:pt x="0" y="284247"/>
                </a:lnTo>
                <a:lnTo>
                  <a:pt x="5826" y="255390"/>
                </a:lnTo>
                <a:lnTo>
                  <a:pt x="7971" y="239145"/>
                </a:lnTo>
                <a:lnTo>
                  <a:pt x="10224" y="233605"/>
                </a:lnTo>
                <a:lnTo>
                  <a:pt x="10278" y="233339"/>
                </a:lnTo>
                <a:lnTo>
                  <a:pt x="10415" y="233136"/>
                </a:lnTo>
                <a:lnTo>
                  <a:pt x="30833" y="182925"/>
                </a:lnTo>
                <a:cubicBezTo>
                  <a:pt x="60614" y="129176"/>
                  <a:pt x="110363" y="83445"/>
                  <a:pt x="172982" y="51151"/>
                </a:cubicBezTo>
                <a:close/>
              </a:path>
            </a:pathLst>
          </a:cu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675480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A7C6-B660-BF73-D23F-9CAF9748F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95DF6-4011-1849-6403-419BB8D58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9016F-A889-BF5F-9FC2-20C46B29D6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6B400-9CFB-565D-0C00-005EF485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22D0FF-B49C-54BF-0F2D-263DD11F0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F1B477-69D5-4A4D-843C-DFBCC49B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1BA9A2EF-C57A-0312-8882-87DDB2972726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958E893-0816-E218-5CBE-32E4D759A20A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1EF31ED-9FB5-619B-DE3B-63E69AF5D644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FDFA9A2-CE58-C962-2835-BBAD2E7B7090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A8DB3AF0-0A3F-C26E-0443-712323742BB7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27732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93894-13E3-B2D7-F43E-266AE9C3C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F1C7BA6-AD68-2313-D244-C0B940922A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DCA20-6F3F-4606-8F9B-5E44E3CC86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AC4B8F-5BEC-77B4-2627-4C24F152E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5EBE8A-001F-40C3-583F-DCE2AF18C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CDA5B-2038-D840-D507-C1351C2F8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58D1A2D7-DE5D-1991-2E22-B40817FA9DE4}"/>
              </a:ext>
            </a:extLst>
          </p:cNvPr>
          <p:cNvSpPr/>
          <p:nvPr userDrawn="1"/>
        </p:nvSpPr>
        <p:spPr>
          <a:xfrm rot="7336004">
            <a:off x="8106926" y="4772515"/>
            <a:ext cx="3241309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FED20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E0DC28C-F39A-9836-72AF-62A81326F688}"/>
              </a:ext>
            </a:extLst>
          </p:cNvPr>
          <p:cNvGrpSpPr/>
          <p:nvPr userDrawn="1"/>
        </p:nvGrpSpPr>
        <p:grpSpPr>
          <a:xfrm rot="1909600">
            <a:off x="9635798" y="4704644"/>
            <a:ext cx="784694" cy="3352353"/>
            <a:chOff x="7715794" y="2375855"/>
            <a:chExt cx="609600" cy="3458888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0BC5D48-3149-6E1C-2A8F-8AB5BA6DFCFB}"/>
                </a:ext>
              </a:extLst>
            </p:cNvPr>
            <p:cNvSpPr/>
            <p:nvPr/>
          </p:nvSpPr>
          <p:spPr>
            <a:xfrm>
              <a:off x="7715794" y="2534194"/>
              <a:ext cx="609600" cy="3300549"/>
            </a:xfrm>
            <a:prstGeom prst="roundRect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A6F1A97-5F7C-EBEE-552B-CBF78887814A}"/>
                </a:ext>
              </a:extLst>
            </p:cNvPr>
            <p:cNvSpPr/>
            <p:nvPr/>
          </p:nvSpPr>
          <p:spPr>
            <a:xfrm>
              <a:off x="7715794" y="2375855"/>
              <a:ext cx="609600" cy="618048"/>
            </a:xfrm>
            <a:prstGeom prst="ellipse">
              <a:avLst/>
            </a:prstGeom>
            <a:solidFill>
              <a:srgbClr val="02A9E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</p:grpSp>
      <p:sp>
        <p:nvSpPr>
          <p:cNvPr id="12" name="Freeform 11">
            <a:extLst>
              <a:ext uri="{FF2B5EF4-FFF2-40B4-BE49-F238E27FC236}">
                <a16:creationId xmlns:a16="http://schemas.microsoft.com/office/drawing/2014/main" id="{1EF8F9FE-EAA6-E88D-B026-9F4803710B8F}"/>
              </a:ext>
            </a:extLst>
          </p:cNvPr>
          <p:cNvSpPr/>
          <p:nvPr userDrawn="1"/>
        </p:nvSpPr>
        <p:spPr>
          <a:xfrm rot="18045866">
            <a:off x="9134134" y="5546013"/>
            <a:ext cx="3240000" cy="1800000"/>
          </a:xfrm>
          <a:custGeom>
            <a:avLst/>
            <a:gdLst>
              <a:gd name="csX0" fmla="*/ 2 w 2643008"/>
              <a:gd name="csY0" fmla="*/ 52 h 1409507"/>
              <a:gd name="csX1" fmla="*/ 0 w 2643008"/>
              <a:gd name="csY1" fmla="*/ 26 h 1409507"/>
              <a:gd name="csX2" fmla="*/ 2 w 2643008"/>
              <a:gd name="csY2" fmla="*/ 0 h 1409507"/>
              <a:gd name="csX3" fmla="*/ 411980 w 2643008"/>
              <a:gd name="csY3" fmla="*/ 996680 h 1409507"/>
              <a:gd name="csX4" fmla="*/ 240223 w 2643008"/>
              <a:gd name="csY4" fmla="*/ 788080 h 1409507"/>
              <a:gd name="csX5" fmla="*/ 170166 w 2643008"/>
              <a:gd name="csY5" fmla="*/ 672526 h 1409507"/>
              <a:gd name="csX6" fmla="*/ 2643008 w 2643008"/>
              <a:gd name="csY6" fmla="*/ 672526 h 1409507"/>
              <a:gd name="csX7" fmla="*/ 2572951 w 2643008"/>
              <a:gd name="csY7" fmla="*/ 788080 h 1409507"/>
              <a:gd name="csX8" fmla="*/ 1406587 w 2643008"/>
              <a:gd name="csY8" fmla="*/ 1409507 h 1409507"/>
              <a:gd name="csX9" fmla="*/ 411980 w 2643008"/>
              <a:gd name="csY9" fmla="*/ 996680 h 14095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2643008" h="1409507">
                <a:moveTo>
                  <a:pt x="2" y="52"/>
                </a:moveTo>
                <a:lnTo>
                  <a:pt x="0" y="26"/>
                </a:lnTo>
                <a:lnTo>
                  <a:pt x="2" y="0"/>
                </a:lnTo>
                <a:close/>
                <a:moveTo>
                  <a:pt x="411980" y="996680"/>
                </a:moveTo>
                <a:cubicBezTo>
                  <a:pt x="348344" y="932913"/>
                  <a:pt x="290778" y="863065"/>
                  <a:pt x="240223" y="788080"/>
                </a:cubicBezTo>
                <a:lnTo>
                  <a:pt x="170166" y="672526"/>
                </a:lnTo>
                <a:lnTo>
                  <a:pt x="2643008" y="672526"/>
                </a:lnTo>
                <a:lnTo>
                  <a:pt x="2572951" y="788080"/>
                </a:lnTo>
                <a:cubicBezTo>
                  <a:pt x="2320178" y="1163005"/>
                  <a:pt x="1892110" y="1409507"/>
                  <a:pt x="1406587" y="1409507"/>
                </a:cubicBezTo>
                <a:cubicBezTo>
                  <a:pt x="1018168" y="1409507"/>
                  <a:pt x="666522" y="1251746"/>
                  <a:pt x="411980" y="996680"/>
                </a:cubicBezTo>
                <a:close/>
              </a:path>
            </a:pathLst>
          </a:custGeom>
          <a:solidFill>
            <a:srgbClr val="00BF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3490079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2FED4-9723-37F6-8B2C-9FCC610E5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744C6-F7F6-2759-7B1B-57D435843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E260AA-A83B-DF68-C0D7-3D34667E3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065FA-0341-5CC1-D502-979963AEBD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EDFFEF-77CF-7A37-6939-3286CD15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88371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866A5D-418D-CEAE-5DDF-5A51C7B78A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C68390-06A2-838B-009E-76FFACB02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2F887C-992F-5717-BE37-F71ECEA03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EB18C0-B88B-2BFB-4FC4-BB5C0A400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8D64A-629C-34B3-065C-AE36440A9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11954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BA233F-1871-0BF9-166C-B080868C9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A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06674-71AB-4CF5-56E7-3FD232BFA6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72806-F876-B645-329B-9D833756F8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91BDEC-81C3-DB48-92B3-4E74693DD55D}" type="datetimeFigureOut">
              <a:rPr lang="en-AT" smtClean="0"/>
              <a:t>04.05.26</a:t>
            </a:fld>
            <a:endParaRPr lang="en-A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B334C-CF65-FE10-8CDB-FFF880147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AD21A0-E704-8BC5-3D51-03FF4DBB25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3BB1E-CF9F-BA4C-AD08-6C35B534BA35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4919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6" r:id="rId1"/>
    <p:sldLayoutId id="2147484167" r:id="rId2"/>
    <p:sldLayoutId id="2147484168" r:id="rId3"/>
    <p:sldLayoutId id="2147484169" r:id="rId4"/>
    <p:sldLayoutId id="2147484170" r:id="rId5"/>
    <p:sldLayoutId id="2147484171" r:id="rId6"/>
    <p:sldLayoutId id="2147484172" r:id="rId7"/>
    <p:sldLayoutId id="2147484173" r:id="rId8"/>
    <p:sldLayoutId id="2147484174" r:id="rId9"/>
    <p:sldLayoutId id="2147484175" r:id="rId10"/>
    <p:sldLayoutId id="214748417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urestorage.com/knowledge/elasticsearch-architecture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elastic.co/elasticsearch/features" TargetMode="External"/><Relationship Id="rId5" Type="http://schemas.openxmlformats.org/officeDocument/2006/relationships/hyperlink" Target="https://www.geeksforgeeks.org/elasticsearch/what-is-elastic-search-and-why-is-it-used/" TargetMode="External"/><Relationship Id="rId4" Type="http://schemas.openxmlformats.org/officeDocument/2006/relationships/hyperlink" Target="https://www.geeksforgeeks.org/elasticsearch/elasticsearch-architecture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D5EF986-C563-96A1-8358-0843072E2994}"/>
              </a:ext>
            </a:extLst>
          </p:cNvPr>
          <p:cNvSpPr/>
          <p:nvPr/>
        </p:nvSpPr>
        <p:spPr>
          <a:xfrm>
            <a:off x="6096000" y="2690949"/>
            <a:ext cx="2203269" cy="677092"/>
          </a:xfrm>
          <a:prstGeom prst="rect">
            <a:avLst/>
          </a:prstGeom>
          <a:solidFill>
            <a:srgbClr val="02A9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96A078-DF03-A054-F0CD-D979DA99BF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T" dirty="0"/>
              <a:t>elastic</a:t>
            </a:r>
            <a:r>
              <a:rPr lang="en-AT" dirty="0">
                <a:solidFill>
                  <a:schemeClr val="bg1"/>
                </a:solidFill>
              </a:rPr>
              <a:t>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3906CB-7C09-7156-4CDA-5F2C1C3499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AT" dirty="0"/>
              <a:t>Fabian Kopf</a:t>
            </a:r>
          </a:p>
          <a:p>
            <a:fld id="{343E18A4-A905-2445-944B-CEA2A38DE8BE}" type="datetime4">
              <a:rPr lang="en-AT" sz="1600"/>
              <a:t>4. May 2026</a:t>
            </a:fld>
            <a:endParaRPr lang="en-AT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653D59-0082-C2F1-C648-9F92F64F55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270" r="75186" b="38646"/>
          <a:stretch>
            <a:fillRect/>
          </a:stretch>
        </p:blipFill>
        <p:spPr>
          <a:xfrm>
            <a:off x="2921726" y="2519522"/>
            <a:ext cx="1146009" cy="1019945"/>
          </a:xfrm>
          <a:prstGeom prst="rect">
            <a:avLst/>
          </a:prstGeom>
        </p:spPr>
      </p:pic>
      <p:pic>
        <p:nvPicPr>
          <p:cNvPr id="7" name="Picture 6" descr="A red and black logo&#10;&#10;AI-generated content may be incorrect.">
            <a:extLst>
              <a:ext uri="{FF2B5EF4-FFF2-40B4-BE49-F238E27FC236}">
                <a16:creationId xmlns:a16="http://schemas.microsoft.com/office/drawing/2014/main" id="{41B48F94-0667-6A48-31A2-F9DEA533B9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516" y="6209211"/>
            <a:ext cx="1809563" cy="491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679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A20A79-00D4-DE2D-0A43-799A35810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140"/>
            <a:ext cx="10515600" cy="1325563"/>
          </a:xfrm>
        </p:spPr>
        <p:txBody>
          <a:bodyPr/>
          <a:lstStyle/>
          <a:p>
            <a:r>
              <a:rPr lang="en-AT" dirty="0"/>
              <a:t>Agenda</a:t>
            </a:r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904DCB42-8A45-9615-EEDC-16F34F784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40916023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592E4-C7F0-B5D1-BE10-933772270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6E0D32-9E39-F289-8F83-5024B14E77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NoSQL docu</a:t>
            </a:r>
            <a:r>
              <a:rPr lang="en-GB" dirty="0"/>
              <a:t>me</a:t>
            </a:r>
            <a:r>
              <a:rPr lang="en-AT" dirty="0"/>
              <a:t>nt store and search engine</a:t>
            </a:r>
          </a:p>
          <a:p>
            <a:r>
              <a:rPr lang="en-AT" dirty="0"/>
              <a:t>Open-source, distributed search and analytics engine</a:t>
            </a:r>
          </a:p>
          <a:p>
            <a:r>
              <a:rPr lang="en-AT" dirty="0"/>
              <a:t>Build on Apache Lucene</a:t>
            </a:r>
          </a:p>
          <a:p>
            <a:pPr lvl="1"/>
            <a:r>
              <a:rPr lang="en-GB" dirty="0"/>
              <a:t>Apache Lucene is an open-source Java library </a:t>
            </a:r>
            <a:endParaRPr lang="en-AT" dirty="0"/>
          </a:p>
          <a:p>
            <a:pPr lvl="1"/>
            <a:r>
              <a:rPr lang="en-AT" dirty="0"/>
              <a:t>Provides the core indexing and full-text search engine</a:t>
            </a:r>
          </a:p>
          <a:p>
            <a:r>
              <a:rPr lang="en-AT" dirty="0"/>
              <a:t>Stores data in JSON format</a:t>
            </a:r>
          </a:p>
          <a:p>
            <a:endParaRPr lang="en-AT" dirty="0"/>
          </a:p>
          <a:p>
            <a:endParaRPr lang="en-A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4F31F-82B8-07BD-2E45-BDF39AAB3E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731" y="4472029"/>
            <a:ext cx="3662784" cy="202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03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A590-3DD4-6F08-BB92-F0C87551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26116-75C6-205D-E7F6-61CF6769E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What is Elasticsearch?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6B26B-331D-18D2-CE29-8237F8AF8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Handle large volumes of data</a:t>
            </a:r>
          </a:p>
          <a:p>
            <a:pPr lvl="1"/>
            <a:r>
              <a:rPr lang="en-GB" dirty="0"/>
              <a:t>In real-time</a:t>
            </a:r>
          </a:p>
          <a:p>
            <a:pPr lvl="1"/>
            <a:r>
              <a:rPr lang="en-GB" dirty="0"/>
              <a:t>Structured and unstructured data</a:t>
            </a:r>
          </a:p>
          <a:p>
            <a:r>
              <a:rPr lang="en-GB" dirty="0"/>
              <a:t>Elastic Stack</a:t>
            </a:r>
          </a:p>
          <a:p>
            <a:pPr lvl="1"/>
            <a:r>
              <a:rPr lang="en-GB" dirty="0"/>
              <a:t>Elasticsearch</a:t>
            </a:r>
          </a:p>
          <a:p>
            <a:pPr lvl="1"/>
            <a:r>
              <a:rPr lang="en-GB" dirty="0"/>
              <a:t>Kibana</a:t>
            </a:r>
          </a:p>
          <a:p>
            <a:pPr lvl="1"/>
            <a:r>
              <a:rPr lang="en-GB" dirty="0"/>
              <a:t>Beats</a:t>
            </a:r>
          </a:p>
          <a:p>
            <a:pPr lvl="1"/>
            <a:r>
              <a:rPr lang="en-GB" dirty="0"/>
              <a:t>Logstash</a:t>
            </a:r>
          </a:p>
          <a:p>
            <a:r>
              <a:rPr lang="en-GB" dirty="0"/>
              <a:t>Developed by Elastic NV</a:t>
            </a: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23050612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64B2B-2AC2-EC83-DF2F-57198D916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31212-F429-C1CE-7112-91003D13D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21682-F41A-DB7E-C9F5-5103991B6B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1C44D5-0AC3-FD84-7402-DC1B9E8748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5913" y="1690688"/>
            <a:ext cx="4623737" cy="14684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Cluster</a:t>
            </a:r>
          </a:p>
          <a:p>
            <a:pPr marL="0" indent="0">
              <a:buNone/>
            </a:pPr>
            <a:r>
              <a:rPr lang="en-AT" dirty="0"/>
              <a:t>One ore more nodes working together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9C382A8-50D6-44C2-AB37-9405B4C2314B}"/>
              </a:ext>
            </a:extLst>
          </p:cNvPr>
          <p:cNvSpPr txBox="1">
            <a:spLocks/>
          </p:cNvSpPr>
          <p:nvPr/>
        </p:nvSpPr>
        <p:spPr>
          <a:xfrm>
            <a:off x="375912" y="326707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Node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Single Elasticsearch instance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FE6EB8A3-D9DD-DBD2-984B-EABF36B76E1B}"/>
              </a:ext>
            </a:extLst>
          </p:cNvPr>
          <p:cNvSpPr txBox="1">
            <a:spLocks/>
          </p:cNvSpPr>
          <p:nvPr/>
        </p:nvSpPr>
        <p:spPr>
          <a:xfrm>
            <a:off x="375913" y="4870320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Index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collection of documents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934146A-C41F-591E-5644-312BE827100D}"/>
              </a:ext>
            </a:extLst>
          </p:cNvPr>
          <p:cNvSpPr txBox="1">
            <a:spLocks/>
          </p:cNvSpPr>
          <p:nvPr/>
        </p:nvSpPr>
        <p:spPr>
          <a:xfrm>
            <a:off x="6019794" y="1609854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Document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JSON object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19D9AEDE-A00B-F34A-2601-5EEF66606BBE}"/>
              </a:ext>
            </a:extLst>
          </p:cNvPr>
          <p:cNvSpPr txBox="1">
            <a:spLocks/>
          </p:cNvSpPr>
          <p:nvPr/>
        </p:nvSpPr>
        <p:spPr>
          <a:xfrm>
            <a:off x="6019794" y="3078292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Shard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A subset of an index stored on a node, enable parallel processing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7540CDE6-A0BC-7C63-8B5C-4BF9AACC8E5B}"/>
              </a:ext>
            </a:extLst>
          </p:cNvPr>
          <p:cNvSpPr txBox="1">
            <a:spLocks/>
          </p:cNvSpPr>
          <p:nvPr/>
        </p:nvSpPr>
        <p:spPr>
          <a:xfrm>
            <a:off x="6019796" y="4708525"/>
            <a:ext cx="4623737" cy="1468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AT" dirty="0">
                <a:solidFill>
                  <a:srgbClr val="00BFB3"/>
                </a:solidFill>
                <a:highlight>
                  <a:srgbClr val="FED20B"/>
                </a:highlight>
              </a:rPr>
              <a:t>Replica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AT" dirty="0"/>
              <a:t>Copy of a shard</a:t>
            </a:r>
          </a:p>
        </p:txBody>
      </p:sp>
    </p:spTree>
    <p:extLst>
      <p:ext uri="{BB962C8B-B14F-4D97-AF65-F5344CB8AC3E}">
        <p14:creationId xmlns:p14="http://schemas.microsoft.com/office/powerpoint/2010/main" val="2060461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EB778-05E3-5D59-4CA9-037196EA08B8}"/>
              </a:ext>
            </a:extLst>
          </p:cNvPr>
          <p:cNvSpPr txBox="1"/>
          <p:nvPr/>
        </p:nvSpPr>
        <p:spPr>
          <a:xfrm>
            <a:off x="1071154" y="14717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0430EE-B089-25B7-699E-5A8CD0D94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01097" cy="6774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412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8AF39-75B6-DC60-0A21-73291B7D2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132DB-DB81-D7D2-FA75-BD461E76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Key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B611F-9F30-6C0C-4B2F-7397F07A9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Distributed and Scalable</a:t>
            </a:r>
          </a:p>
          <a:p>
            <a:r>
              <a:rPr lang="en-AT" dirty="0"/>
              <a:t>Real-Time Data Analysis</a:t>
            </a:r>
          </a:p>
          <a:p>
            <a:r>
              <a:rPr lang="en-AT" dirty="0"/>
              <a:t>Full-Text Search</a:t>
            </a:r>
          </a:p>
          <a:p>
            <a:r>
              <a:rPr lang="en-AT" dirty="0"/>
              <a:t>RESTful API</a:t>
            </a:r>
          </a:p>
          <a:p>
            <a:r>
              <a:rPr lang="en-AT" dirty="0"/>
              <a:t>Schemaless</a:t>
            </a:r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635851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5CF85-E07B-700C-7411-5EDA9FE78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F2F72-FB45-7E3B-58A6-59EDFB45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41B2A-8BD1-3620-F66F-000D059E6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Indexing</a:t>
            </a:r>
          </a:p>
          <a:p>
            <a:pPr lvl="1"/>
            <a:r>
              <a:rPr lang="en-AT" dirty="0"/>
              <a:t>Data is analysed </a:t>
            </a:r>
            <a:r>
              <a:rPr lang="en-AT" dirty="0">
                <a:sym typeface="Wingdings" pitchFamily="2" charset="2"/>
              </a:rPr>
              <a:t> tokenized  stored in inverted index</a:t>
            </a: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endParaRPr lang="en-AT" dirty="0">
              <a:sym typeface="Wingdings" pitchFamily="2" charset="2"/>
            </a:endParaRPr>
          </a:p>
          <a:p>
            <a:pPr lvl="1"/>
            <a:r>
              <a:rPr lang="en-AT" dirty="0">
                <a:sym typeface="Wingdings" pitchFamily="2" charset="2"/>
              </a:rPr>
              <a:t>Instant lookups without scanning every record</a:t>
            </a:r>
            <a:endParaRPr lang="en-AT" dirty="0"/>
          </a:p>
          <a:p>
            <a:endParaRPr lang="en-AT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472689-7A41-A70C-5E9C-CDCB03381588}"/>
              </a:ext>
            </a:extLst>
          </p:cNvPr>
          <p:cNvGrpSpPr/>
          <p:nvPr/>
        </p:nvGrpSpPr>
        <p:grpSpPr>
          <a:xfrm>
            <a:off x="251150" y="3072809"/>
            <a:ext cx="3013046" cy="712381"/>
            <a:chOff x="251149" y="3306726"/>
            <a:chExt cx="3461657" cy="82673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CDBC851-880E-EACC-7E51-2912EACCF5E0}"/>
                </a:ext>
              </a:extLst>
            </p:cNvPr>
            <p:cNvSpPr/>
            <p:nvPr/>
          </p:nvSpPr>
          <p:spPr>
            <a:xfrm>
              <a:off x="251149" y="3306726"/>
              <a:ext cx="3461657" cy="826735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1D9A5AF-BA1F-16E8-8A10-17FCC7E07E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4347" y="3387308"/>
              <a:ext cx="3295260" cy="647945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148D32B-4A90-32FA-64A2-C4B15016D615}"/>
              </a:ext>
            </a:extLst>
          </p:cNvPr>
          <p:cNvGrpSpPr/>
          <p:nvPr/>
        </p:nvGrpSpPr>
        <p:grpSpPr>
          <a:xfrm>
            <a:off x="3582685" y="3072809"/>
            <a:ext cx="3013046" cy="712381"/>
            <a:chOff x="3540155" y="3065214"/>
            <a:chExt cx="3013046" cy="712381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04C072-59A8-AEFE-45B6-284B7BBD56D5}"/>
                </a:ext>
              </a:extLst>
            </p:cNvPr>
            <p:cNvSpPr/>
            <p:nvPr/>
          </p:nvSpPr>
          <p:spPr>
            <a:xfrm>
              <a:off x="3540155" y="3065214"/>
              <a:ext cx="3013046" cy="712381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1152164-2EF5-EDD1-4262-7014902D7B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16355" y="3160180"/>
              <a:ext cx="2860645" cy="51380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92F3C1E-8B2D-79AD-95FA-84F25EBD56AD}"/>
              </a:ext>
            </a:extLst>
          </p:cNvPr>
          <p:cNvGrpSpPr/>
          <p:nvPr/>
        </p:nvGrpSpPr>
        <p:grpSpPr>
          <a:xfrm>
            <a:off x="7034164" y="2771844"/>
            <a:ext cx="2645879" cy="1522638"/>
            <a:chOff x="6964959" y="3994588"/>
            <a:chExt cx="2645879" cy="1522638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D736C13-2413-9561-0668-08F3D0D24DEE}"/>
                </a:ext>
              </a:extLst>
            </p:cNvPr>
            <p:cNvSpPr/>
            <p:nvPr/>
          </p:nvSpPr>
          <p:spPr>
            <a:xfrm>
              <a:off x="6964959" y="3994588"/>
              <a:ext cx="2645879" cy="1522638"/>
            </a:xfrm>
            <a:prstGeom prst="rect">
              <a:avLst/>
            </a:prstGeom>
            <a:solidFill>
              <a:srgbClr val="00BFB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T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A0677A90-797C-7C1F-2BF1-82B5EEFFA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011321" y="4099888"/>
              <a:ext cx="2553153" cy="13120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17688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E6DE9-5604-5267-065F-C7B04FA32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6466A-74F4-09F4-F537-346D6C7CE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C7F02-D29B-9C3C-5C30-A23A3798E0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Queying</a:t>
            </a:r>
          </a:p>
          <a:p>
            <a:pPr lvl="1"/>
            <a:r>
              <a:rPr lang="en-AT" dirty="0"/>
              <a:t>Client send JSON-based Query DSL request via REST API</a:t>
            </a:r>
          </a:p>
          <a:p>
            <a:pPr lvl="1"/>
            <a:r>
              <a:rPr lang="en-AT" dirty="0"/>
              <a:t>Full-text match, fuzzy, bool, range, geo and aggregation queries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925FC9-D62F-CCF3-3ACF-0341D0A83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256128"/>
            <a:ext cx="7311936" cy="2613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670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2B20B-3DEC-9217-4354-AA82BA6C2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3BFEF-7E89-0A91-5B6B-F228A46DB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How does it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646B5-1CC7-DEFE-48BF-9E01221E6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Sharding and Replication</a:t>
            </a:r>
          </a:p>
          <a:p>
            <a:pPr lvl="1"/>
            <a:r>
              <a:rPr lang="en-AT" dirty="0"/>
              <a:t>An Index split into shards distributed across nodes</a:t>
            </a:r>
          </a:p>
          <a:p>
            <a:pPr lvl="1"/>
            <a:r>
              <a:rPr lang="en-AT" dirty="0"/>
              <a:t>Replicas of shard as backup</a:t>
            </a:r>
          </a:p>
          <a:p>
            <a:r>
              <a:rPr lang="en-AT" b="1" dirty="0"/>
              <a:t>Distributed Search</a:t>
            </a:r>
          </a:p>
          <a:p>
            <a:pPr lvl="1"/>
            <a:r>
              <a:rPr lang="en-AT" dirty="0"/>
              <a:t>ES communicates with all nodes in the cluster to fetch all relevant data</a:t>
            </a:r>
          </a:p>
          <a:p>
            <a:pPr lvl="1"/>
            <a:r>
              <a:rPr lang="en-AT" dirty="0"/>
              <a:t>Node requests are parrallel and the results are merged together</a:t>
            </a:r>
          </a:p>
        </p:txBody>
      </p:sp>
    </p:spTree>
    <p:extLst>
      <p:ext uri="{BB962C8B-B14F-4D97-AF65-F5344CB8AC3E}">
        <p14:creationId xmlns:p14="http://schemas.microsoft.com/office/powerpoint/2010/main" val="5441733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228D6-31B1-07E6-520F-37294ED8F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82D02-E8C8-5979-CAB1-CEE7C5B9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99B1F-6DFD-C149-C1C4-04BBBD5B0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b="1" dirty="0"/>
              <a:t>RESTful API</a:t>
            </a:r>
          </a:p>
          <a:p>
            <a:pPr lvl="1"/>
            <a:r>
              <a:rPr lang="en-AT" dirty="0"/>
              <a:t>Operation carried out via HTTP Request (GET, POST, PUT, DELETE)</a:t>
            </a:r>
          </a:p>
          <a:p>
            <a:r>
              <a:rPr lang="en-AT" b="1" dirty="0"/>
              <a:t>Query DSL</a:t>
            </a:r>
          </a:p>
          <a:p>
            <a:pPr lvl="1"/>
            <a:r>
              <a:rPr lang="en-AT" dirty="0"/>
              <a:t>JSON domain-specific language for building queries</a:t>
            </a:r>
          </a:p>
          <a:p>
            <a:pPr lvl="1"/>
            <a:r>
              <a:rPr lang="en-AT" dirty="0"/>
              <a:t>Types: </a:t>
            </a:r>
            <a:r>
              <a:rPr lang="en-AT" b="1" dirty="0"/>
              <a:t>match</a:t>
            </a:r>
            <a:r>
              <a:rPr lang="en-AT" dirty="0"/>
              <a:t> (full-text), </a:t>
            </a:r>
            <a:r>
              <a:rPr lang="en-AT" b="1" dirty="0"/>
              <a:t>term</a:t>
            </a:r>
            <a:r>
              <a:rPr lang="en-AT" dirty="0"/>
              <a:t> (exact), </a:t>
            </a:r>
            <a:r>
              <a:rPr lang="en-AT" b="1" dirty="0"/>
              <a:t>bool</a:t>
            </a:r>
            <a:r>
              <a:rPr lang="en-AT" dirty="0"/>
              <a:t> ( compound), </a:t>
            </a:r>
            <a:r>
              <a:rPr lang="en-AT" b="1" dirty="0"/>
              <a:t>range</a:t>
            </a:r>
            <a:r>
              <a:rPr lang="en-AT" dirty="0"/>
              <a:t> (numeric, date), </a:t>
            </a:r>
            <a:r>
              <a:rPr lang="en-AT" b="1" dirty="0"/>
              <a:t>fuzzy</a:t>
            </a:r>
            <a:r>
              <a:rPr lang="en-AT" dirty="0"/>
              <a:t> and </a:t>
            </a:r>
            <a:r>
              <a:rPr lang="en-AT" b="1" dirty="0"/>
              <a:t>aggs </a:t>
            </a:r>
            <a:r>
              <a:rPr lang="en-AT" dirty="0"/>
              <a:t>(aggreagation)</a:t>
            </a:r>
            <a:endParaRPr lang="en-AT" b="1" dirty="0"/>
          </a:p>
          <a:p>
            <a:endParaRPr lang="en-AT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6EA4D-8EFC-6B0A-7623-0882F103D0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388" y="4267051"/>
            <a:ext cx="3221369" cy="240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1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A573-1AC3-D042-0B50-81529EE27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ED723F-C4A8-951A-187D-4B4CE4CC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Query Language &amp; API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AEF158B-5C4E-5939-D936-A8218FEB23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70079" y="1690688"/>
            <a:ext cx="2675269" cy="507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1561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5DA51-6F69-6DCC-3408-D8DE54DFF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D2EA0-789F-CFA0-2CD6-178F567FF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Usecases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78D33-E7F1-F23A-7FC9-24A90C432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T" dirty="0"/>
              <a:t>Application with search functionality</a:t>
            </a:r>
          </a:p>
          <a:p>
            <a:pPr lvl="1"/>
            <a:r>
              <a:rPr lang="en-AT" dirty="0"/>
              <a:t>Blog posts, Product catalogs, log files, …</a:t>
            </a:r>
          </a:p>
          <a:p>
            <a:r>
              <a:rPr lang="en-AT" dirty="0"/>
              <a:t>Log and Event Data Analysis</a:t>
            </a:r>
          </a:p>
          <a:p>
            <a:pPr lvl="1"/>
            <a:r>
              <a:rPr lang="en-GB" dirty="0"/>
              <a:t>R</a:t>
            </a:r>
            <a:r>
              <a:rPr lang="en-AT" dirty="0"/>
              <a:t>eal-time analysis</a:t>
            </a:r>
          </a:p>
          <a:p>
            <a:pPr lvl="1"/>
            <a:r>
              <a:rPr lang="en-AT" dirty="0"/>
              <a:t>Detect anomalies</a:t>
            </a:r>
          </a:p>
          <a:p>
            <a:r>
              <a:rPr lang="en-AT" dirty="0"/>
              <a:t>Business Analytics</a:t>
            </a:r>
          </a:p>
          <a:p>
            <a:r>
              <a:rPr lang="en-AT" dirty="0"/>
              <a:t>Geospatial Search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AE37E7-D276-B9B4-2E2B-5569C1D71806}"/>
              </a:ext>
            </a:extLst>
          </p:cNvPr>
          <p:cNvSpPr txBox="1"/>
          <p:nvPr/>
        </p:nvSpPr>
        <p:spPr>
          <a:xfrm>
            <a:off x="1786270" y="27432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1205578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2FC-0F7F-FC65-BE78-DF618C2E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Advanteges &amp; Disadvanteges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ED2D2-F5EB-D9EA-33EE-C825247E468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buFont typeface="Wingdings" pitchFamily="2" charset="2"/>
              <a:buChar char="ü"/>
            </a:pPr>
            <a:r>
              <a:rPr lang="en-AT" dirty="0"/>
              <a:t>Horizontal scalability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Real-time search and analytics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Different Methods to query data (with Query DSL)</a:t>
            </a:r>
          </a:p>
          <a:p>
            <a:pPr>
              <a:buFont typeface="Wingdings" pitchFamily="2" charset="2"/>
              <a:buChar char="ü"/>
            </a:pPr>
            <a:r>
              <a:rPr lang="en-AT" dirty="0"/>
              <a:t>Ecosystem (Kibana)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A68D11-8F21-7B87-C6B9-D9027C83F74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buFont typeface="System Font Regular"/>
              <a:buChar char="-"/>
            </a:pPr>
            <a:r>
              <a:rPr lang="en-AT" dirty="0"/>
              <a:t>Complexe Setup</a:t>
            </a:r>
          </a:p>
          <a:p>
            <a:pPr>
              <a:buFont typeface="System Font Regular"/>
              <a:buChar char="-"/>
            </a:pPr>
            <a:r>
              <a:rPr lang="en-AT" dirty="0"/>
              <a:t>Resource intensive</a:t>
            </a:r>
          </a:p>
          <a:p>
            <a:pPr>
              <a:buFont typeface="System Font Regular"/>
              <a:buChar char="-"/>
            </a:pPr>
            <a:r>
              <a:rPr lang="en-AT" dirty="0"/>
              <a:t>No ACID transactions</a:t>
            </a:r>
          </a:p>
          <a:p>
            <a:pPr>
              <a:buFont typeface="System Font Regular"/>
              <a:buChar char="-"/>
            </a:pPr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086762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8ECD-E897-708E-68F5-7C5208030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41C53-F01C-3330-1189-BE69A914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601E1-90B3-5370-A16D-580F502C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AT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7677488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40E01-CDD9-D911-B6E4-C23364C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DF827-683D-4F14-0B5C-83247C9C1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T" dirty="0"/>
              <a:t>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FA3BAB-992A-3A42-1763-1D513CF9FB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>
                <a:hlinkClick r:id="rId3"/>
              </a:rPr>
              <a:t>https://www.purestorage.com/knowledge/elasticsearch-architecture.html</a:t>
            </a:r>
            <a:endParaRPr lang="en-GB" sz="1800" dirty="0"/>
          </a:p>
          <a:p>
            <a:r>
              <a:rPr lang="en-GB" sz="1800" dirty="0">
                <a:hlinkClick r:id="rId4"/>
              </a:rPr>
              <a:t>https://www.geeksforgeeks.org/elasticsearch/elasticsearch-architecture/</a:t>
            </a:r>
            <a:endParaRPr lang="en-AT" sz="1800" dirty="0"/>
          </a:p>
          <a:p>
            <a:r>
              <a:rPr lang="en-GB" sz="1800" dirty="0">
                <a:hlinkClick r:id="rId5"/>
              </a:rPr>
              <a:t>https://www.geeksforgeeks.org/elasticsearch/what-is-elastic-search-and-why-is-it-used/</a:t>
            </a:r>
            <a:endParaRPr lang="en-GB" sz="1800" dirty="0"/>
          </a:p>
          <a:p>
            <a:r>
              <a:rPr lang="en-GB" sz="1800" dirty="0">
                <a:hlinkClick r:id="rId6"/>
              </a:rPr>
              <a:t>https://www.elastic.co/elasticsearch/features</a:t>
            </a:r>
            <a:endParaRPr lang="en-GB" sz="1800" dirty="0"/>
          </a:p>
          <a:p>
            <a:endParaRPr lang="en-GB" dirty="0"/>
          </a:p>
          <a:p>
            <a:endParaRPr lang="en-AT" dirty="0"/>
          </a:p>
        </p:txBody>
      </p:sp>
    </p:spTree>
    <p:extLst>
      <p:ext uri="{BB962C8B-B14F-4D97-AF65-F5344CB8AC3E}">
        <p14:creationId xmlns:p14="http://schemas.microsoft.com/office/powerpoint/2010/main" val="16425811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413</TotalTime>
  <Words>982</Words>
  <Application>Microsoft Macintosh PowerPoint</Application>
  <PresentationFormat>Widescreen</PresentationFormat>
  <Paragraphs>138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System Font Regular</vt:lpstr>
      <vt:lpstr>Wingdings</vt:lpstr>
      <vt:lpstr>Office Theme</vt:lpstr>
      <vt:lpstr>elasticsearch</vt:lpstr>
      <vt:lpstr>Agenda</vt:lpstr>
      <vt:lpstr>What is Elasticsearch?</vt:lpstr>
      <vt:lpstr>What is Elasticsearch?</vt:lpstr>
      <vt:lpstr>Architecture</vt:lpstr>
      <vt:lpstr>PowerPoint Presentation</vt:lpstr>
      <vt:lpstr>Key features</vt:lpstr>
      <vt:lpstr>How does it work</vt:lpstr>
      <vt:lpstr>How does it work</vt:lpstr>
      <vt:lpstr>How does it work</vt:lpstr>
      <vt:lpstr>Query Language &amp; API</vt:lpstr>
      <vt:lpstr>Query Language &amp; API</vt:lpstr>
      <vt:lpstr>Usecases</vt:lpstr>
      <vt:lpstr>Advanteges &amp; Disadvanteges</vt:lpstr>
      <vt:lpstr>Project</vt:lpstr>
      <vt:lpstr>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Kopf Fabian - s2410824006</dc:creator>
  <cp:lastModifiedBy>Kopf Fabian - s2410824006</cp:lastModifiedBy>
  <cp:revision>47</cp:revision>
  <dcterms:created xsi:type="dcterms:W3CDTF">2026-05-01T13:40:05Z</dcterms:created>
  <dcterms:modified xsi:type="dcterms:W3CDTF">2026-05-04T14:57:15Z</dcterms:modified>
</cp:coreProperties>
</file>