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65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8" r:id="rId6"/>
    <p:sldId id="269" r:id="rId7"/>
    <p:sldId id="261" r:id="rId8"/>
    <p:sldId id="263" r:id="rId9"/>
    <p:sldId id="262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D20B"/>
    <a:srgbClr val="00BFB3"/>
    <a:srgbClr val="02A9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19"/>
    <p:restoredTop sz="94659"/>
  </p:normalViewPr>
  <p:slideViewPr>
    <p:cSldViewPr snapToGrid="0">
      <p:cViewPr varScale="1">
        <p:scale>
          <a:sx n="69" d="100"/>
          <a:sy n="69" d="100"/>
        </p:scale>
        <p:origin x="216" y="1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BCD2-C187-B342-9D66-FD6DDE94747E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565C50-69E9-8E49-A3AB-C69605F3BCD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10894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61353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15B0-999E-1514-A448-870AE972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A1D50-85DC-9F8F-A115-7EA606E0A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95E3-FE6D-F2C0-158D-BDC48780D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Beats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shipping,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Logstash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processing.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ED8E-6070-D589-7FDB-EB2B35929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5610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0524-611F-2FEB-987D-56FF6839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F4783-AD51-7669-A8B6-40D1A425E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CFA6D1-F98B-DDBF-41A2-86767096B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2EE7D-3B6A-FE6E-72E1-E71691C44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1222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CB156-0B84-FD0E-B5B8-947EC6052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507E35-D2CC-C05B-9FAE-B309FD49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09CF0-21C4-B8AC-DBEF-DA33107D3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38F03-16B0-D5A7-20B1-D49ADDED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145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8E0A9-C650-7653-7FCC-8258A4ADD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978A5-78D9-2525-0380-4477067A6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CEEEE-C7FE-1847-F1D0-DDF04FCBC0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9FB4C-B26C-54BC-CA1A-AB4035EEF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6488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ECCA7-4D49-FE9D-9AA0-C3CB76DD1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7BFCF-DEC2-04F1-6C27-42E131087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DC1BF-37AC-E219-C92F-9A4864357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098C9-5013-0958-709C-AFD18D7C1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9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56324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8D0DE-142E-2B45-1A56-3BD6AEBDE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1D435F-0DDD-8174-22FD-1C38ACE85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3C4831-9BD9-6CF8-06CD-AF61D0997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D11DD-C6D3-46F2-EBED-0D4027BB1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43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31299-0189-2C8D-89C9-3D851112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92200-DEAD-57C0-C50B-49670743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77AEE-0601-35AB-C699-AC10D5535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0EEC9-47A7-F691-D36B-5BF05A027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02234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9B7A-2047-D6D3-11BC-54F37C4C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360CA5-BEB2-E327-F211-9F8D85CBA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A3D05-C486-3039-BE33-C040DA900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60B0D-1C08-4B2A-A34B-73A56EE7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12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348156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48B5A-D00A-4259-F4BF-FE60949CF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719A-2CB2-8BA4-C35F-43D92D74F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2D15A-5DD1-EE84-47BE-34C12268C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D92D7-35C5-16BF-5368-7D0964651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74628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09A5-A479-79D0-C570-03AEC40AC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A329F-AC64-5B64-C62C-763D85C12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8CEB6-3E3C-523D-9CA4-A3C4C196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0FD85-B3BD-082A-340C-8830742E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925C4-09A7-3188-14DC-441E18E6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1350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411-3171-C2D7-746B-A620CCC0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71B1E-1A15-8CF7-2420-1B65D74ED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93F-194D-2EC2-B1BE-2AD51F9B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23EFC-C784-AC46-AE3C-8E1B6BCAD649}" type="datetime1">
              <a:rPr lang="en-US" smtClean="0"/>
              <a:pPr/>
              <a:t>5/1/26</a:t>
            </a:fld>
            <a:endParaRPr lang="en-A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1317-118A-F2CC-1354-E583C68F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101D1-DD1C-DD70-99DE-FA67BC8C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03C308-A36A-C23C-737B-3C9A616681C2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3F2D58-3CFC-EB8C-C4FF-707BD1B1996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D491104-C9F3-A30C-7209-5A868ADDE345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2521229-4EB8-BEAF-F660-E32D069B7C0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247AAED8-DC4C-B4A6-DC1F-CD0EBA10EFE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EDCE9754-6C00-0776-66EA-4338096A8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507D564E-B7A2-1104-3355-9CBFC86FDD9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678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09B-8187-9259-C703-B81ADEDF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BCD72-8D13-01E0-B3AD-927A8ECC4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7E909-5ECE-EA28-48FC-04B35BAD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E802-7298-BAD4-E0E6-3BD941F31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F2B34-CE93-848B-31D5-D83BA287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589CD65-5F10-2A5E-08A3-4784155E15AD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AFF811-7F9B-2B8D-CC58-4617CF0DB6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3E6DBF-8FE3-ABF9-52E3-01484BA7CC4E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6F2B1F5-4C85-B9F8-45BA-975B76CECBA6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DF5AF3FC-A7FB-8F1D-041D-FCAB37F9587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255387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E27E-FBF7-E1D1-FA66-0AAE47BE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3F2A8-F6C6-E247-36C4-34D690B4D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8EE53-E0C8-E326-1EBA-3295756D2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C9890-96D8-C421-F52E-89E5FA5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F1BCA-A324-D676-9CFF-F496AE89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AE1F81-3D0C-317C-254B-9F0FC46B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B3973F1-0FD7-E73C-D601-F35B9056F1F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CF6CCF-D429-0CF0-05DE-4D366EFE875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0370479-BBD2-FF8A-2DB0-7A5DD86349A9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57D8D5D-07C9-0C5C-EAB4-234FE01CD4D5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2E01D89F-E383-A868-DDA1-8D9C405D8F36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4AEF60-975A-95F7-0943-7B3F46AD3B73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095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2E9E-ADD2-BE08-DEFE-FD45AE47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83A32-25C9-AD33-2534-FCEE0476E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B07E2-D127-E6B7-3008-A53226AE2A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F64B3-30EA-D82E-7B58-037A489DB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A688AC-338C-3AC5-829A-F54813C940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A5D16-6D99-8B5D-23CC-0876B825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2B6E79-88CD-C666-4034-53122E85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388AC4-EB5B-089F-4585-D736D7E3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201A220-9FE5-8298-5472-24DF51C00DD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746DDD-0411-EF63-173B-3B41E3C39B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8059651-D777-D47B-57E7-408F993AFABD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7778A5-4CF3-EEA2-A12C-5689024F2A6F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4" name="Freeform 13">
            <a:extLst>
              <a:ext uri="{FF2B5EF4-FFF2-40B4-BE49-F238E27FC236}">
                <a16:creationId xmlns:a16="http://schemas.microsoft.com/office/drawing/2014/main" id="{A2BF3103-6099-DFBB-0DAC-C56679D7033A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980F5AE-4DFD-602C-243F-A756C225EB5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05594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1954-C818-5E73-0EA0-41BD660D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C0A4B0-CC47-BB0E-0DB5-D4C6DF84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0E736-777E-CA31-35D5-9AB5EE33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D5ECD-39A7-20DD-CC53-1B4817CB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B1BA926-4F3B-78FF-DE8E-EB15B6F10B1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E3586C-7B28-9A07-48C9-E4F14E59757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A39B3FF-D9EC-CCC3-9011-F97FEBC489EC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DAF5549-E861-F069-4318-4570DC06DDA1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0" name="Freeform 9">
            <a:extLst>
              <a:ext uri="{FF2B5EF4-FFF2-40B4-BE49-F238E27FC236}">
                <a16:creationId xmlns:a16="http://schemas.microsoft.com/office/drawing/2014/main" id="{19430686-6174-286D-E72B-DD5857B97093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4A39A69-0D36-A804-A37B-53D8EE142AC5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68143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B5CC0-5E35-C6F7-5691-EFBD2267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4387E-EF95-E26B-8131-54A0ADE39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9B22-8FB2-1C2A-EA71-1C1752FEA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CF2B57E-D22E-0ACD-B3A3-73397166D4B8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03FCB0-ED19-9547-031E-FE66528B258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E574726-1DAB-2B05-3D8A-53A5B5880018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AB4D40-84D7-388A-11FE-763A70127DEC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89DADE3B-3245-F679-B2C7-24F58E35663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9026AC4-B436-F850-5A7F-52F1154DDE3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754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A7C6-B660-BF73-D23F-9CAF9748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95DF6-4011-1849-6403-419BB8D5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9016F-A889-BF5F-9FC2-20C46B29D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B400-9CFB-565D-0C00-005EF485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2D0FF-B49C-54BF-0F2D-263DD11F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1B477-69D5-4A4D-843C-DFBCC4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A9A2EF-C57A-0312-8882-87DDB2972726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58E893-0816-E218-5CBE-32E4D759A20A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1EF31ED-9FB5-619B-DE3B-63E69AF5D644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FDFA9A2-CE58-C962-2835-BBAD2E7B7090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DB3AF0-0A3F-C26E-0443-712323742BB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2773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3894-13E3-B2D7-F43E-266AE9C3C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C7BA6-AD68-2313-D244-C0B940922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CA20-6F3F-4606-8F9B-5E44E3CC8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C4B8F-5BEC-77B4-2627-4C24F152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BE8A-001F-40C3-583F-DCE2AF18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CDA5B-2038-D840-D507-C1351C2F8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D1A2D7-DE5D-1991-2E22-B40817FA9DE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0DC28C-F39A-9836-72AF-62A81326F688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0BC5D48-3149-6E1C-2A8F-8AB5BA6DFCFB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6F1A97-5F7C-EBEE-552B-CBF78887814A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1EF8F9FE-EAA6-E88D-B026-9F4803710B8F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49007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2FED4-9723-37F6-8B2C-9FCC610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744C6-F7F6-2759-7B1B-57D435843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260AA-A83B-DF68-C0D7-3D34667E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065FA-0341-5CC1-D502-979963AE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DFFEF-77CF-7A37-6939-3286CD1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8837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66A5D-418D-CEAE-5DDF-5A51C7B78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68390-06A2-838B-009E-76FFACB0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F887C-992F-5717-BE37-F71ECEA03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B18C0-B88B-2BFB-4FC4-BB5C0A40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D64A-629C-34B3-065C-AE36440A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11954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A233F-1871-0BF9-166C-B080868C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06674-71AB-4CF5-56E7-3FD232BFA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2806-F876-B645-329B-9D833756F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91BDEC-81C3-DB48-92B3-4E74693DD55D}" type="datetimeFigureOut">
              <a:rPr lang="en-AT" smtClean="0"/>
              <a:t>01.05.26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334C-CF65-FE10-8CDB-FFF880147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D21A0-E704-8BC5-3D51-03FF4DBB2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491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restorage.com/knowledge/elasticsearch-architecture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eeksforgeeks.org/elasticsearch/what-is-elastic-search-and-why-is-it-used/" TargetMode="External"/><Relationship Id="rId4" Type="http://schemas.openxmlformats.org/officeDocument/2006/relationships/hyperlink" Target="https://www.geeksforgeeks.org/elasticsearch/elasticsearch-architectu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5EF986-C563-96A1-8358-0843072E2994}"/>
              </a:ext>
            </a:extLst>
          </p:cNvPr>
          <p:cNvSpPr/>
          <p:nvPr/>
        </p:nvSpPr>
        <p:spPr>
          <a:xfrm>
            <a:off x="6096000" y="2690949"/>
            <a:ext cx="2203269" cy="677092"/>
          </a:xfrm>
          <a:prstGeom prst="rect">
            <a:avLst/>
          </a:pr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6A078-DF03-A054-F0CD-D979DA99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elastic</a:t>
            </a:r>
            <a:r>
              <a:rPr lang="en-AT" dirty="0">
                <a:solidFill>
                  <a:schemeClr val="bg1"/>
                </a:solidFill>
              </a:rPr>
              <a:t>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06CB-7C09-7156-4CDA-5F2C1C3499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AT" dirty="0"/>
              <a:t>Fabian Kopf</a:t>
            </a:r>
          </a:p>
          <a:p>
            <a:fld id="{343E18A4-A905-2445-944B-CEA2A38DE8BE}" type="datetime4">
              <a:rPr lang="en-AT" sz="1600"/>
              <a:t>May 1, 2026</a:t>
            </a:fld>
            <a:endParaRPr lang="en-AT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53D59-0082-C2F1-C648-9F92F64F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270" r="75186" b="38646"/>
          <a:stretch>
            <a:fillRect/>
          </a:stretch>
        </p:blipFill>
        <p:spPr>
          <a:xfrm>
            <a:off x="2921726" y="2519522"/>
            <a:ext cx="1146009" cy="1019945"/>
          </a:xfrm>
          <a:prstGeom prst="rect">
            <a:avLst/>
          </a:prstGeom>
        </p:spPr>
      </p:pic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41B48F94-0667-6A48-31A2-F9DEA533B9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16" y="6209211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0A79-00D4-DE2D-0A43-799A3581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40"/>
            <a:ext cx="10515600" cy="1325563"/>
          </a:xfrm>
        </p:spPr>
        <p:txBody>
          <a:bodyPr/>
          <a:lstStyle/>
          <a:p>
            <a:r>
              <a:rPr lang="en-AT" dirty="0"/>
              <a:t>Agenda</a:t>
            </a:r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904DCB42-8A45-9615-EEDC-16F34F78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09160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2E4-C7F0-B5D1-BE10-93377227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0D32-9E39-F289-8F83-5024B14E7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NoSQL docu</a:t>
            </a:r>
            <a:r>
              <a:rPr lang="en-GB" dirty="0"/>
              <a:t>me</a:t>
            </a:r>
            <a:r>
              <a:rPr lang="en-AT" dirty="0"/>
              <a:t>nt store and search engine</a:t>
            </a:r>
          </a:p>
          <a:p>
            <a:r>
              <a:rPr lang="en-AT" dirty="0"/>
              <a:t>Open-source, distributed search and analytics engine</a:t>
            </a:r>
          </a:p>
          <a:p>
            <a:r>
              <a:rPr lang="en-AT" dirty="0"/>
              <a:t>Build on Apache Lucene</a:t>
            </a:r>
          </a:p>
          <a:p>
            <a:pPr lvl="1"/>
            <a:r>
              <a:rPr lang="en-GB" dirty="0"/>
              <a:t>Apache Lucene is an open-source Java library </a:t>
            </a:r>
            <a:endParaRPr lang="en-AT" dirty="0"/>
          </a:p>
          <a:p>
            <a:pPr lvl="1"/>
            <a:r>
              <a:rPr lang="en-AT" dirty="0"/>
              <a:t>Provides the core indexing and full-text search engine</a:t>
            </a:r>
          </a:p>
          <a:p>
            <a:r>
              <a:rPr lang="en-AT" dirty="0"/>
              <a:t>Stores data in JSON format</a:t>
            </a:r>
          </a:p>
          <a:p>
            <a:endParaRPr lang="en-AT" dirty="0"/>
          </a:p>
          <a:p>
            <a:endParaRPr lang="en-A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4F31F-82B8-07BD-2E45-BDF39AAB3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731" y="4472029"/>
            <a:ext cx="3662784" cy="202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3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A590-3DD4-6F08-BB92-F0C87551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26116-75C6-205D-E7F6-61CF6769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6B26B-331D-18D2-CE29-8237F8AF8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Handle large volumes of data</a:t>
            </a:r>
          </a:p>
          <a:p>
            <a:pPr lvl="1"/>
            <a:r>
              <a:rPr lang="en-GB" dirty="0"/>
              <a:t>In real-time</a:t>
            </a:r>
          </a:p>
          <a:p>
            <a:pPr lvl="1"/>
            <a:r>
              <a:rPr lang="en-GB" dirty="0"/>
              <a:t>Structured and unstructured data</a:t>
            </a:r>
          </a:p>
          <a:p>
            <a:r>
              <a:rPr lang="en-GB" dirty="0"/>
              <a:t>Elastic Stack</a:t>
            </a:r>
          </a:p>
          <a:p>
            <a:pPr lvl="1"/>
            <a:r>
              <a:rPr lang="en-GB" dirty="0"/>
              <a:t>Elasticsearch</a:t>
            </a:r>
          </a:p>
          <a:p>
            <a:pPr lvl="1"/>
            <a:r>
              <a:rPr lang="en-GB" dirty="0"/>
              <a:t>Kibana</a:t>
            </a:r>
          </a:p>
          <a:p>
            <a:pPr lvl="1"/>
            <a:r>
              <a:rPr lang="en-GB" dirty="0"/>
              <a:t>Beats</a:t>
            </a:r>
          </a:p>
          <a:p>
            <a:pPr lvl="1"/>
            <a:r>
              <a:rPr lang="en-GB" dirty="0"/>
              <a:t>Logstash</a:t>
            </a:r>
          </a:p>
          <a:p>
            <a:r>
              <a:rPr lang="en-GB" dirty="0"/>
              <a:t>Developed by Elastic NV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30506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64B2B-2AC2-EC83-DF2F-57198D91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1212-F429-C1CE-7112-91003D1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21682-F41A-DB7E-C9F5-5103991B6B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C44D5-0AC3-FD84-7402-DC1B9E874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913" y="1690688"/>
            <a:ext cx="4623737" cy="1468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Cluster</a:t>
            </a:r>
          </a:p>
          <a:p>
            <a:pPr marL="0" indent="0">
              <a:buNone/>
            </a:pPr>
            <a:r>
              <a:rPr lang="en-AT" dirty="0"/>
              <a:t>One ore more nodes working together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9C382A8-50D6-44C2-AB37-9405B4C2314B}"/>
              </a:ext>
            </a:extLst>
          </p:cNvPr>
          <p:cNvSpPr txBox="1">
            <a:spLocks/>
          </p:cNvSpPr>
          <p:nvPr/>
        </p:nvSpPr>
        <p:spPr>
          <a:xfrm>
            <a:off x="375912" y="326707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Single Elasticsearch instance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E6EB8A3-D9DD-DBD2-984B-EABF36B76E1B}"/>
              </a:ext>
            </a:extLst>
          </p:cNvPr>
          <p:cNvSpPr txBox="1">
            <a:spLocks/>
          </p:cNvSpPr>
          <p:nvPr/>
        </p:nvSpPr>
        <p:spPr>
          <a:xfrm>
            <a:off x="375913" y="4870320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Index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collection of documents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934146A-C41F-591E-5644-312BE827100D}"/>
              </a:ext>
            </a:extLst>
          </p:cNvPr>
          <p:cNvSpPr txBox="1">
            <a:spLocks/>
          </p:cNvSpPr>
          <p:nvPr/>
        </p:nvSpPr>
        <p:spPr>
          <a:xfrm>
            <a:off x="6019794" y="1609854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Document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JSON object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9D9AEDE-A00B-F34A-2601-5EEF66606BBE}"/>
              </a:ext>
            </a:extLst>
          </p:cNvPr>
          <p:cNvSpPr txBox="1">
            <a:spLocks/>
          </p:cNvSpPr>
          <p:nvPr/>
        </p:nvSpPr>
        <p:spPr>
          <a:xfrm>
            <a:off x="6019794" y="3078292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Shard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subset of an index stored on a node, enable parallel processing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7540CDE6-A0BC-7C63-8B5C-4BF9AACC8E5B}"/>
              </a:ext>
            </a:extLst>
          </p:cNvPr>
          <p:cNvSpPr txBox="1">
            <a:spLocks/>
          </p:cNvSpPr>
          <p:nvPr/>
        </p:nvSpPr>
        <p:spPr>
          <a:xfrm>
            <a:off x="6019796" y="470852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Replica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Copy of a shard</a:t>
            </a:r>
          </a:p>
        </p:txBody>
      </p:sp>
    </p:spTree>
    <p:extLst>
      <p:ext uri="{BB962C8B-B14F-4D97-AF65-F5344CB8AC3E}">
        <p14:creationId xmlns:p14="http://schemas.microsoft.com/office/powerpoint/2010/main" val="206046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EB778-05E3-5D59-4CA9-037196EA08B8}"/>
              </a:ext>
            </a:extLst>
          </p:cNvPr>
          <p:cNvSpPr txBox="1"/>
          <p:nvPr/>
        </p:nvSpPr>
        <p:spPr>
          <a:xfrm>
            <a:off x="1071154" y="14717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0430EE-B089-25B7-699E-5A8CD0D94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01097" cy="677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12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AF39-75B6-DC60-0A21-73291B7D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32DB-DB81-D7D2-FA75-BD461E76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611F-9F30-6C0C-4B2F-7397F07A9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635851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5CF85-E07B-700C-7411-5EDA9FE78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72-FB45-7E3B-58A6-59EDFB45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41B2A-8BD1-3620-F66F-000D059E6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11768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DA51-6F69-6DCC-3408-D8DE54DF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D2EA0-789F-CFA0-2CD6-178F567FF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Usecases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78D33-E7F1-F23A-7FC9-24A90C432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120557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98E3-B852-25C3-C070-66A39EDB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B527-C770-2AA9-2642-4B4FECAF9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Advanteges &amp; Disadvanteges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9DB83-1D22-7B61-FBE3-0CD9EB2B7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808658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28D6-31B1-07E6-520F-37294ED8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2D02-E8C8-5979-CAB1-CEE7C5B9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99B1F-6DFD-C149-C1C4-04BBBD5B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606651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8ECD-E897-708E-68F5-7C520803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41C53-F01C-3330-1189-BE69A914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601E1-90B3-5370-A16D-580F502C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767748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40E01-CDD9-D911-B6E4-C23364C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DF827-683D-4F14-0B5C-83247C9C1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A3BAB-992A-3A42-1763-1D513CF9F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linkClick r:id="rId3"/>
              </a:rPr>
              <a:t>https://www.purestorage.com/knowledge/elasticsearch-architecture.html</a:t>
            </a:r>
            <a:endParaRPr lang="en-GB" dirty="0"/>
          </a:p>
          <a:p>
            <a:r>
              <a:rPr lang="en-GB" dirty="0">
                <a:hlinkClick r:id="rId4"/>
              </a:rPr>
              <a:t>https://www.geeksforgeeks.org/elasticsearch/elasticsearch-architecture/</a:t>
            </a:r>
            <a:endParaRPr lang="en-AT" dirty="0"/>
          </a:p>
          <a:p>
            <a:r>
              <a:rPr lang="en-GB" dirty="0">
                <a:hlinkClick r:id="rId5"/>
              </a:rPr>
              <a:t>https://www.geeksforgeeks.org/elasticsearch/what-is-elastic-search-and-why-is-it-used/</a:t>
            </a:r>
            <a:endParaRPr lang="en-GB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64258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Words>338</Words>
  <Application>Microsoft Macintosh PowerPoint</Application>
  <PresentationFormat>Widescreen</PresentationFormat>
  <Paragraphs>63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elasticsearch</vt:lpstr>
      <vt:lpstr>Agenda</vt:lpstr>
      <vt:lpstr>What is Elasticsearch?</vt:lpstr>
      <vt:lpstr>What is Elasticsearch?</vt:lpstr>
      <vt:lpstr>Architecture</vt:lpstr>
      <vt:lpstr>PowerPoint Presentation</vt:lpstr>
      <vt:lpstr>Key features</vt:lpstr>
      <vt:lpstr>How does it work</vt:lpstr>
      <vt:lpstr>Usecases</vt:lpstr>
      <vt:lpstr>Advanteges &amp; Disadvanteges</vt:lpstr>
      <vt:lpstr>Query Language &amp; API</vt:lpstr>
      <vt:lpstr>Project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Kopf Fabian - s2410824006</dc:creator>
  <cp:lastModifiedBy>Kopf Fabian - s2410824006</cp:lastModifiedBy>
  <cp:revision>31</cp:revision>
  <dcterms:created xsi:type="dcterms:W3CDTF">2026-05-01T13:40:05Z</dcterms:created>
  <dcterms:modified xsi:type="dcterms:W3CDTF">2026-05-01T18:36:32Z</dcterms:modified>
</cp:coreProperties>
</file>